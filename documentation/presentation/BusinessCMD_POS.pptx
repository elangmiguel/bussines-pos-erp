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73" r:id="rId5"/>
    <p:sldId id="258" r:id="rId6"/>
    <p:sldId id="333" r:id="rId7"/>
    <p:sldId id="334" r:id="rId8"/>
    <p:sldId id="261" r:id="rId9"/>
    <p:sldId id="263" r:id="rId10"/>
    <p:sldId id="264" r:id="rId11"/>
    <p:sldId id="265" r:id="rId12"/>
    <p:sldId id="266" r:id="rId13"/>
    <p:sldId id="335" r:id="rId14"/>
    <p:sldId id="271" r:id="rId15"/>
    <p:sldId id="272" r:id="rId16"/>
    <p:sldId id="331" r:id="rId17"/>
    <p:sldId id="274" r:id="rId18"/>
    <p:sldId id="275" r:id="rId19"/>
    <p:sldId id="332" r:id="rId20"/>
    <p:sldId id="277" r:id="rId21"/>
    <p:sldId id="278" r:id="rId22"/>
    <p:sldId id="336" r:id="rId23"/>
    <p:sldId id="268" r:id="rId24"/>
    <p:sldId id="25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B6DC1-4B1A-D8F5-A073-12275EC46181}" v="2" dt="2026-05-21T07:13:58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Angel Rodriguez Ferreira" userId="S::miguel-rodriguez13@upc.edu.co::fbb12375-a37a-4418-a7c4-c0109b2902e3" providerId="AD" clId="Web-{08AB6DC1-4B1A-D8F5-A073-12275EC46181}"/>
    <pc:docChg chg="modSld sldOrd">
      <pc:chgData name="Miguel Angel Rodriguez Ferreira" userId="S::miguel-rodriguez13@upc.edu.co::fbb12375-a37a-4418-a7c4-c0109b2902e3" providerId="AD" clId="Web-{08AB6DC1-4B1A-D8F5-A073-12275EC46181}" dt="2026-05-21T07:13:58.617" v="1"/>
      <pc:docMkLst>
        <pc:docMk/>
      </pc:docMkLst>
      <pc:sldChg chg="mod ord modShow">
        <pc:chgData name="Miguel Angel Rodriguez Ferreira" userId="S::miguel-rodriguez13@upc.edu.co::fbb12375-a37a-4418-a7c4-c0109b2902e3" providerId="AD" clId="Web-{08AB6DC1-4B1A-D8F5-A073-12275EC46181}" dt="2026-05-21T07:13:58.617" v="1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86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4475F-D893-6763-9B4F-C11503B7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21448-FB2B-A920-E879-FAC66EF87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84447-DA85-6AB8-AFC0-CB8216209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643CB-C3D3-4F4E-C76C-561560269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5C015-15F0-D93D-C548-A873B31F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83CDF-5561-DD38-58D6-590DFCDD9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FBB3E-8BB0-A89A-78BA-BB4AB6EA6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E56CA-4373-01A6-8B89-AB2768F89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09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83CF-2459-BBDA-5909-A39D4B76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99582-401E-35E0-DA04-DF6277073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64A04-4DAD-E4F2-9194-6E10239F0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10808-2B5E-4669-D212-2CFA40CD5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72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C15A-F192-792D-31DE-F9F01E52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8636E-CFDA-CC90-CB5F-5F420F934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B105B-EBC8-61A8-2A67-92DCA8E95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911D7-0B18-D0A8-B918-1325B52B6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40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0409C90D-70B0-82DD-BAD1-DBBADB0C2296}"/>
              </a:ext>
            </a:extLst>
          </p:cNvPr>
          <p:cNvSpPr/>
          <p:nvPr/>
        </p:nvSpPr>
        <p:spPr>
          <a:xfrm>
            <a:off x="-1" y="1138428"/>
            <a:ext cx="9143999" cy="40050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5" name="Text 3"/>
          <p:cNvSpPr/>
          <p:nvPr/>
        </p:nvSpPr>
        <p:spPr>
          <a:xfrm>
            <a:off x="731518" y="1703421"/>
            <a:ext cx="7527577" cy="941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BusinessCMD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18" y="2876974"/>
            <a:ext cx="7527577" cy="26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gestión para puntos de venta y administración 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MiPyMe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0" y="477215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Piloto de Colombia - Ingeniería de Sistemas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579B1B-11E0-5F7A-C6EC-0EEF66A13EA5}"/>
              </a:ext>
            </a:extLst>
          </p:cNvPr>
          <p:cNvSpPr txBox="1"/>
          <p:nvPr/>
        </p:nvSpPr>
        <p:spPr>
          <a:xfrm>
            <a:off x="0" y="3249342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Jimenez Gomez</a:t>
            </a:r>
            <a:b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Angel Rodriguez Ferreira</a:t>
            </a:r>
            <a:b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José Suarez Cuervo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F55D9-74C3-9553-9F7A-55C7AC0373F2}"/>
              </a:ext>
            </a:extLst>
          </p:cNvPr>
          <p:cNvSpPr txBox="1"/>
          <p:nvPr/>
        </p:nvSpPr>
        <p:spPr>
          <a:xfrm>
            <a:off x="0" y="4197553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200" b="1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Franklin Guillermo Cardozo Torres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D6AD8F-D9AC-9688-C548-3C4B3A58888E}"/>
              </a:ext>
            </a:extLst>
          </p:cNvPr>
          <p:cNvCxnSpPr>
            <a:cxnSpLocks/>
          </p:cNvCxnSpPr>
          <p:nvPr/>
        </p:nvCxnSpPr>
        <p:spPr>
          <a:xfrm>
            <a:off x="731518" y="2645285"/>
            <a:ext cx="7527577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3E1B93-7220-DD42-45B6-BE190986C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895" y="242703"/>
            <a:ext cx="2330245" cy="77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91DCB17A-4D3B-F401-D3D4-E6DB538ED0D9}"/>
              </a:ext>
            </a:extLst>
          </p:cNvPr>
          <p:cNvSpPr/>
          <p:nvPr/>
        </p:nvSpPr>
        <p:spPr>
          <a:xfrm>
            <a:off x="0" y="0"/>
            <a:ext cx="8412480" cy="1188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C8763DE1-97BB-F0C1-6399-4DDEAEBEEF29}"/>
              </a:ext>
            </a:extLst>
          </p:cNvPr>
          <p:cNvSpPr/>
          <p:nvPr/>
        </p:nvSpPr>
        <p:spPr>
          <a:xfrm>
            <a:off x="8412480" y="0"/>
            <a:ext cx="731520" cy="1188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627A6E6B-39B6-B6B1-3BD4-6E39AE094FBA}"/>
              </a:ext>
            </a:extLst>
          </p:cNvPr>
          <p:cNvSpPr/>
          <p:nvPr/>
        </p:nvSpPr>
        <p:spPr>
          <a:xfrm>
            <a:off x="-1" y="2852199"/>
            <a:ext cx="1913579" cy="2291301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n-US" b="1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Propuesta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3E59E9C-87EE-7799-7FA9-D94BF0E9E72D}"/>
              </a:ext>
            </a:extLst>
          </p:cNvPr>
          <p:cNvSpPr/>
          <p:nvPr/>
        </p:nvSpPr>
        <p:spPr>
          <a:xfrm>
            <a:off x="-1" y="658369"/>
            <a:ext cx="1913579" cy="2193831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n-US" b="1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Contexto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D11ADA-5231-A624-1390-8A45EE34C7E4}"/>
              </a:ext>
            </a:extLst>
          </p:cNvPr>
          <p:cNvSpPr/>
          <p:nvPr/>
        </p:nvSpPr>
        <p:spPr>
          <a:xfrm>
            <a:off x="1913578" y="2852200"/>
            <a:ext cx="7093262" cy="2291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Unificada: </a:t>
            </a:r>
            <a:r>
              <a:rPr kumimoji="0" lang="es-E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POS y Facturación en un solo ecosistema integrado en tiempo real.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s-ES" sz="1500" b="1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en costos: </a:t>
            </a:r>
            <a:r>
              <a:rPr lang="es-ES" sz="1500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Open </a:t>
            </a:r>
            <a:r>
              <a:rPr lang="es-ES" sz="1500" dirty="0" err="1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s-ES" sz="1500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diseñada para eliminar cuotas recurrentes por terminal.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s-ES" sz="1500" b="1" dirty="0" err="1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umplimiento</a:t>
            </a:r>
            <a:r>
              <a:rPr lang="es-ES" sz="1500" b="1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automatizado: </a:t>
            </a:r>
            <a:r>
              <a:rPr lang="es-ES" sz="1500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CUFE y XML integrada al flujo de venta, garantizando legalidad fiscal.</a:t>
            </a:r>
            <a:endParaRPr kumimoji="0" lang="es-E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9C8F2C-2CAC-2E81-6901-3DC9BF0889A5}"/>
              </a:ext>
            </a:extLst>
          </p:cNvPr>
          <p:cNvSpPr/>
          <p:nvPr/>
        </p:nvSpPr>
        <p:spPr>
          <a:xfrm>
            <a:off x="1913578" y="658367"/>
            <a:ext cx="7093262" cy="2193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desconectados: </a:t>
            </a:r>
            <a:r>
              <a:rPr kumimoji="0" lang="es-E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Ventas en una herramienta, inventario en Excel y fiado en un cuaderno. Sin comunicación entre sí.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Costos de licencia: </a:t>
            </a:r>
            <a:r>
              <a:rPr kumimoji="0" lang="es-E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Cobros mensuales por caja que superan el presupuesto del pequeño comerciante.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Riesgo fiscal: </a:t>
            </a:r>
            <a:r>
              <a:rPr kumimoji="0" lang="es-E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Inexactitud ante la DIAN por falta de sincronización, derivando en posibles sanciones.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64FB53C-1BAF-9F32-8006-8865688C8AB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Problemática: La realidad de las </a:t>
            </a:r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MiPyMEs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colombianas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00973042-5B7E-CFF8-DF01-0A0F6F0A7E85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769BF-705E-6AFD-AB0B-D473355D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330B2508-3E97-E73A-76B0-25AAA3A31347}"/>
              </a:ext>
            </a:extLst>
          </p:cNvPr>
          <p:cNvSpPr/>
          <p:nvPr/>
        </p:nvSpPr>
        <p:spPr>
          <a:xfrm>
            <a:off x="-1" y="2852199"/>
            <a:ext cx="1913579" cy="22913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numCol="1" anchor="ctr"/>
          <a:lstStyle/>
          <a:p>
            <a:pPr lvl="1"/>
            <a:r>
              <a:rPr lang="es-419" b="1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B</a:t>
            </a:r>
            <a:r>
              <a:rPr lang="en-US" b="1" i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ackend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F0B66F8-4612-D530-3DAB-C27076FA78E1}"/>
              </a:ext>
            </a:extLst>
          </p:cNvPr>
          <p:cNvSpPr/>
          <p:nvPr/>
        </p:nvSpPr>
        <p:spPr>
          <a:xfrm>
            <a:off x="-1" y="658369"/>
            <a:ext cx="1913579" cy="21938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numCol="1" anchor="ctr"/>
          <a:lstStyle/>
          <a:p>
            <a:pPr lvl="1"/>
            <a:r>
              <a:rPr lang="en-US" b="1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Frontend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748C93-A2FB-C2CA-1841-5DD46FFB48B2}"/>
              </a:ext>
            </a:extLst>
          </p:cNvPr>
          <p:cNvSpPr/>
          <p:nvPr/>
        </p:nvSpPr>
        <p:spPr>
          <a:xfrm>
            <a:off x="1913578" y="2852200"/>
            <a:ext cx="7093262" cy="2291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s-E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B718C-D946-64AA-4DB2-65414B0F62DB}"/>
              </a:ext>
            </a:extLst>
          </p:cNvPr>
          <p:cNvSpPr/>
          <p:nvPr/>
        </p:nvSpPr>
        <p:spPr>
          <a:xfrm>
            <a:off x="1913578" y="658367"/>
            <a:ext cx="7093262" cy="2193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s-E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D99E8BC-712A-62A9-2437-16701F4DFE5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</a:t>
            </a:r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tecnologico</a:t>
            </a:r>
            <a:endParaRPr lang="es-ES" sz="20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92B59801-1DD4-7CCD-81C9-7BDD251313E4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4E59F7-1045-E9B9-2E66-C4C06BB03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391" y="2572473"/>
            <a:ext cx="1826906" cy="1826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C53608-F2F8-2EF3-D13D-992F57874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391" y="1146033"/>
            <a:ext cx="1754190" cy="4255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C17159-9B02-5B31-6F2F-7D53875085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49" t="41416" r="29801" b="39063"/>
          <a:stretch>
            <a:fillRect/>
          </a:stretch>
        </p:blipFill>
        <p:spPr>
          <a:xfrm>
            <a:off x="2448981" y="1952855"/>
            <a:ext cx="1826316" cy="425595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362DAE3A-885D-EB29-8B39-920783622B35}"/>
              </a:ext>
            </a:extLst>
          </p:cNvPr>
          <p:cNvSpPr/>
          <p:nvPr/>
        </p:nvSpPr>
        <p:spPr>
          <a:xfrm>
            <a:off x="4572000" y="3018111"/>
            <a:ext cx="3931920" cy="1959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(PHP):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principal con ORM Eloquent, colas y autenticacion Fortify</a:t>
            </a:r>
            <a:endParaRPr lang="en-US" sz="1300" dirty="0"/>
          </a:p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relacional con soporte ACID completo, JSONB y soft deletes</a:t>
            </a:r>
            <a:endParaRPr lang="en-US" sz="1300" dirty="0"/>
          </a:p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Pattern: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accion que orquestan operaciones que tocan varias tablas a la vez</a:t>
            </a:r>
            <a:endParaRPr lang="en-US" sz="1300" dirty="0"/>
          </a:p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especializados: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DianService, InventarioService, FondoService</a:t>
            </a:r>
            <a:endParaRPr lang="en-US" sz="13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90C98A0-454A-0685-E8D3-0489F7618F2F}"/>
              </a:ext>
            </a:extLst>
          </p:cNvPr>
          <p:cNvSpPr/>
          <p:nvPr/>
        </p:nvSpPr>
        <p:spPr>
          <a:xfrm>
            <a:off x="4572000" y="878455"/>
            <a:ext cx="3931920" cy="1761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 5 con Runes: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reactividad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compilacion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13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Inertia.js: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Laravel-Svelte,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REST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separada</a:t>
            </a:r>
            <a:endParaRPr lang="en-US" sz="13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backend y frontend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 + </a:t>
            </a:r>
            <a:r>
              <a:rPr lang="en-US" sz="13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-svelte: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reutilizables</a:t>
            </a:r>
            <a:endParaRPr lang="en-US" sz="13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026" name="Picture 2" descr="Assignment Logo">
            <a:extLst>
              <a:ext uri="{FF2B5EF4-FFF2-40B4-BE49-F238E27FC236}">
                <a16:creationId xmlns:a16="http://schemas.microsoft.com/office/drawing/2014/main" id="{FBDAF9D9-DED8-3E37-E754-A620B4A80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9" b="24040"/>
          <a:stretch>
            <a:fillRect/>
          </a:stretch>
        </p:blipFill>
        <p:spPr bwMode="auto">
          <a:xfrm>
            <a:off x="2153386" y="3997467"/>
            <a:ext cx="2344200" cy="88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50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54A8-5499-7911-375F-C27537D0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>
            <a:extLst>
              <a:ext uri="{FF2B5EF4-FFF2-40B4-BE49-F238E27FC236}">
                <a16:creationId xmlns:a16="http://schemas.microsoft.com/office/drawing/2014/main" id="{CA556AF1-FA2D-8A95-8DEA-4656F1C2FA9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cascada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9FA2B1-6E20-9F47-D5E3-E7664957D429}"/>
              </a:ext>
            </a:extLst>
          </p:cNvPr>
          <p:cNvGrpSpPr/>
          <p:nvPr/>
        </p:nvGrpSpPr>
        <p:grpSpPr>
          <a:xfrm>
            <a:off x="464128" y="1262433"/>
            <a:ext cx="1959379" cy="1239012"/>
            <a:chOff x="0" y="3931920"/>
            <a:chExt cx="4526280" cy="1211580"/>
          </a:xfrm>
        </p:grpSpPr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7BAB0718-3BB5-C012-1818-A6FB5D26683D}"/>
                </a:ext>
              </a:extLst>
            </p:cNvPr>
            <p:cNvSpPr/>
            <p:nvPr/>
          </p:nvSpPr>
          <p:spPr>
            <a:xfrm>
              <a:off x="0" y="3931920"/>
              <a:ext cx="4526280" cy="301752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Analisis</a:t>
              </a:r>
              <a:endParaRPr lang="en-US" sz="12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79EB540-1F94-2493-6D79-0450E216E131}"/>
                </a:ext>
              </a:extLst>
            </p:cNvPr>
            <p:cNvSpPr/>
            <p:nvPr/>
          </p:nvSpPr>
          <p:spPr>
            <a:xfrm>
              <a:off x="0" y="4224559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Identificación de módulos y marco normativo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CB6C43-2983-CDDC-5743-D90B99DAE3DA}"/>
              </a:ext>
            </a:extLst>
          </p:cNvPr>
          <p:cNvGrpSpPr/>
          <p:nvPr/>
        </p:nvGrpSpPr>
        <p:grpSpPr>
          <a:xfrm>
            <a:off x="4382886" y="2392886"/>
            <a:ext cx="1959379" cy="1239012"/>
            <a:chOff x="546016" y="2037517"/>
            <a:chExt cx="4526280" cy="1211580"/>
          </a:xfrm>
        </p:grpSpPr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D2DDBBE6-E629-8899-1A7A-D648D4005F29}"/>
                </a:ext>
              </a:extLst>
            </p:cNvPr>
            <p:cNvSpPr/>
            <p:nvPr/>
          </p:nvSpPr>
          <p:spPr>
            <a:xfrm>
              <a:off x="546016" y="2037517"/>
              <a:ext cx="4526280" cy="30175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Implementacion</a:t>
              </a:r>
              <a:endPara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264CA5-482B-8C7F-6AB3-44956531820C}"/>
                </a:ext>
              </a:extLst>
            </p:cNvPr>
            <p:cNvSpPr/>
            <p:nvPr/>
          </p:nvSpPr>
          <p:spPr>
            <a:xfrm>
              <a:off x="546016" y="2330156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Codificación de lógica POS y facturación electrónica</a:t>
              </a:r>
            </a:p>
          </p:txBody>
        </p:sp>
      </p:grpSp>
      <p:sp>
        <p:nvSpPr>
          <p:cNvPr id="27" name="Shape 2">
            <a:extLst>
              <a:ext uri="{FF2B5EF4-FFF2-40B4-BE49-F238E27FC236}">
                <a16:creationId xmlns:a16="http://schemas.microsoft.com/office/drawing/2014/main" id="{91A65574-F638-948D-ED26-CE914D396163}"/>
              </a:ext>
            </a:extLst>
          </p:cNvPr>
          <p:cNvSpPr/>
          <p:nvPr/>
        </p:nvSpPr>
        <p:spPr>
          <a:xfrm>
            <a:off x="8999566" y="0"/>
            <a:ext cx="144434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DE99BE-7DEB-7759-D38A-E2657574A0A1}"/>
              </a:ext>
            </a:extLst>
          </p:cNvPr>
          <p:cNvGrpSpPr/>
          <p:nvPr/>
        </p:nvGrpSpPr>
        <p:grpSpPr>
          <a:xfrm>
            <a:off x="2423507" y="1823000"/>
            <a:ext cx="1959379" cy="1239012"/>
            <a:chOff x="0" y="3931920"/>
            <a:chExt cx="4526280" cy="1211580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35CBA1BE-D7BE-14CA-8CE7-86B0F591CB7D}"/>
                </a:ext>
              </a:extLst>
            </p:cNvPr>
            <p:cNvSpPr/>
            <p:nvPr/>
          </p:nvSpPr>
          <p:spPr>
            <a:xfrm>
              <a:off x="0" y="3931920"/>
              <a:ext cx="4526280" cy="301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Diseño</a:t>
              </a:r>
              <a:endParaRPr lang="en-US" sz="12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21764C-B631-7CF0-369A-4B2196B4C432}"/>
                </a:ext>
              </a:extLst>
            </p:cNvPr>
            <p:cNvSpPr/>
            <p:nvPr/>
          </p:nvSpPr>
          <p:spPr>
            <a:xfrm>
              <a:off x="0" y="4224559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Modelado de tablas y arquitectura de servicios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4745E03-49F1-E766-ABE8-7878FF1091D1}"/>
              </a:ext>
            </a:extLst>
          </p:cNvPr>
          <p:cNvGrpSpPr/>
          <p:nvPr/>
        </p:nvGrpSpPr>
        <p:grpSpPr>
          <a:xfrm>
            <a:off x="6342265" y="2995662"/>
            <a:ext cx="1959379" cy="1239012"/>
            <a:chOff x="546016" y="2037517"/>
            <a:chExt cx="4526280" cy="1211580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9F815458-7773-7C86-6D3D-8D741DDBB1D5}"/>
                </a:ext>
              </a:extLst>
            </p:cNvPr>
            <p:cNvSpPr/>
            <p:nvPr/>
          </p:nvSpPr>
          <p:spPr>
            <a:xfrm>
              <a:off x="546016" y="2037517"/>
              <a:ext cx="4526280" cy="301752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Pruebas</a:t>
              </a:r>
              <a:endPara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17C5BC-3B59-8B32-FC38-ABB75A1F8D6F}"/>
                </a:ext>
              </a:extLst>
            </p:cNvPr>
            <p:cNvSpPr/>
            <p:nvPr/>
          </p:nvSpPr>
          <p:spPr>
            <a:xfrm>
              <a:off x="546016" y="2330156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Pruebas de consistencia y simulación fiscal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876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>
            <a:extLst>
              <a:ext uri="{FF2B5EF4-FFF2-40B4-BE49-F238E27FC236}">
                <a16:creationId xmlns:a16="http://schemas.microsoft.com/office/drawing/2014/main" id="{57098049-05AF-977E-3F62-58C44B798F57}"/>
              </a:ext>
            </a:extLst>
          </p:cNvPr>
          <p:cNvSpPr/>
          <p:nvPr/>
        </p:nvSpPr>
        <p:spPr>
          <a:xfrm>
            <a:off x="181669" y="938623"/>
            <a:ext cx="8697710" cy="39058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64622" y="1035616"/>
            <a:ext cx="1649800" cy="1811491"/>
          </a:xfrm>
          <a:prstGeom prst="rect">
            <a:avLst/>
          </a:prstGeom>
          <a:solidFill>
            <a:srgbClr val="002060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64622" y="118009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4622" y="181494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1983694" y="1035616"/>
            <a:ext cx="1649800" cy="1811491"/>
          </a:xfrm>
          <a:prstGeom prst="rect">
            <a:avLst/>
          </a:prstGeom>
          <a:solidFill>
            <a:srgbClr val="002060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983694" y="118009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983694" y="181494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3702766" y="1035616"/>
            <a:ext cx="1649800" cy="1811491"/>
          </a:xfrm>
          <a:prstGeom prst="rect">
            <a:avLst/>
          </a:prstGeom>
          <a:solidFill>
            <a:srgbClr val="002060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702766" y="118009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02766" y="181494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2000" b="1" dirty="0"/>
          </a:p>
        </p:txBody>
      </p:sp>
      <p:sp>
        <p:nvSpPr>
          <p:cNvPr id="13" name="Shape 11"/>
          <p:cNvSpPr/>
          <p:nvPr/>
        </p:nvSpPr>
        <p:spPr>
          <a:xfrm>
            <a:off x="5421838" y="1035616"/>
            <a:ext cx="1649800" cy="1811491"/>
          </a:xfrm>
          <a:prstGeom prst="rect">
            <a:avLst/>
          </a:prstGeom>
          <a:solidFill>
            <a:srgbClr val="002060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21838" y="118009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21838" y="181494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7140910" y="1035616"/>
            <a:ext cx="1649800" cy="1811491"/>
          </a:xfrm>
          <a:prstGeom prst="rect">
            <a:avLst/>
          </a:prstGeom>
          <a:solidFill>
            <a:srgbClr val="002060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140910" y="118009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40910" y="181494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2000" b="1" dirty="0"/>
          </a:p>
        </p:txBody>
      </p:sp>
      <p:sp>
        <p:nvSpPr>
          <p:cNvPr id="19" name="Shape 17"/>
          <p:cNvSpPr/>
          <p:nvPr/>
        </p:nvSpPr>
        <p:spPr>
          <a:xfrm>
            <a:off x="264622" y="2910136"/>
            <a:ext cx="1649800" cy="1811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64622" y="305461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64622" y="368946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 DIAN</a:t>
            </a:r>
            <a:endParaRPr lang="en-US" sz="2000" b="1" dirty="0"/>
          </a:p>
        </p:txBody>
      </p:sp>
      <p:sp>
        <p:nvSpPr>
          <p:cNvPr id="22" name="Shape 20"/>
          <p:cNvSpPr/>
          <p:nvPr/>
        </p:nvSpPr>
        <p:spPr>
          <a:xfrm>
            <a:off x="1983694" y="2910136"/>
            <a:ext cx="1649800" cy="1811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983694" y="305461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83694" y="368946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y Fondos</a:t>
            </a:r>
            <a:endParaRPr lang="en-US" sz="2000" b="1" dirty="0"/>
          </a:p>
        </p:txBody>
      </p:sp>
      <p:sp>
        <p:nvSpPr>
          <p:cNvPr id="25" name="Shape 23"/>
          <p:cNvSpPr/>
          <p:nvPr/>
        </p:nvSpPr>
        <p:spPr>
          <a:xfrm>
            <a:off x="3702766" y="2910136"/>
            <a:ext cx="1649800" cy="1811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02766" y="305461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02766" y="368946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</a:t>
            </a:r>
            <a:endParaRPr lang="en-US" sz="2000" b="1" dirty="0"/>
          </a:p>
        </p:txBody>
      </p:sp>
      <p:sp>
        <p:nvSpPr>
          <p:cNvPr id="28" name="Shape 26"/>
          <p:cNvSpPr/>
          <p:nvPr/>
        </p:nvSpPr>
        <p:spPr>
          <a:xfrm>
            <a:off x="5421838" y="2910136"/>
            <a:ext cx="1649800" cy="1811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421838" y="305461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21838" y="368946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2000" b="1" dirty="0"/>
          </a:p>
        </p:txBody>
      </p:sp>
      <p:sp>
        <p:nvSpPr>
          <p:cNvPr id="31" name="Shape 29"/>
          <p:cNvSpPr/>
          <p:nvPr/>
        </p:nvSpPr>
        <p:spPr>
          <a:xfrm>
            <a:off x="7140910" y="2910136"/>
            <a:ext cx="1649800" cy="1811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140910" y="3054613"/>
            <a:ext cx="1649800" cy="66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40910" y="3689465"/>
            <a:ext cx="1649800" cy="8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</a:t>
            </a:r>
            <a:endParaRPr lang="en-US" sz="2000" b="1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612A5DD2-E121-CEB6-3DE9-29EAD6BA8668}"/>
              </a:ext>
            </a:extLst>
          </p:cNvPr>
          <p:cNvSpPr/>
          <p:nvPr/>
        </p:nvSpPr>
        <p:spPr>
          <a:xfrm>
            <a:off x="0" y="-32004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321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Esta clase de accion coordina todo lo que ocurre cuando el cajero hace clic en Cobrar.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166360" cy="3337560"/>
          </a:xfrm>
          <a:prstGeom prst="rect">
            <a:avLst/>
          </a:prstGeom>
          <a:solidFill>
            <a:srgbClr val="161616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app/Actions/CrearFactura.php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CrearFactura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execute(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array $data,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$userId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): Factura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DB::transaction(function()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 ($data, $userId)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1. Genera numero con prefijo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$factura = Factura::create([...]);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2. Descuenta stock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app(InventarioService::class)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-&gt;registrarSalida(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$factura, $data['items']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3. Genera CUFE SHA-384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app(DianService::class)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-&gt;generarCufe($factura);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$factura;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108960" cy="3337560"/>
          </a:xfrm>
          <a:prstGeom prst="rect">
            <a:avLst/>
          </a:prstGeom>
          <a:solidFill>
            <a:srgbClr val="1A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7607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hace este codigo: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659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DB::transaction() garantiza que si algo falla, todo se revierte. Nunca queda un stock descontado sin factura.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responsabilidad esta en su propio servicio: factura, inventario y DIAN no se mezclan en el mismo metodo.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CUFE se genera dentro de la misma transaccion, asegurando que siempre exista si la venta existe.</a:t>
            </a:r>
            <a:endParaRPr lang="en-US" sz="11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28E46C2-2CFF-E6E8-200B-361E2B508DE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CrearFactura.php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El </a:t>
            </a:r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corazon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venta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5760" y="1417320"/>
            <a:ext cx="5166360" cy="3337560"/>
          </a:xfrm>
          <a:prstGeom prst="rect">
            <a:avLst/>
          </a:prstGeom>
          <a:solidFill>
            <a:srgbClr val="161616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app/Services/DianService.php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generarCufe(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Factura $f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string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$cadena = implode('',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$f-&gt;numero_completo,   // NumFac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$f-&gt;fecha-&gt;format('Y-m-d'),  // FecFac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$f-&gt;hora_emision,      // HorFac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number_format($f-&gt;subtotal, 2, '.', ''),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'01',                  // CodImp1 = IVA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number_format($f-&gt;total_iva, 2, '.', ''),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$f-&gt;nit_emisor,        // NitOFE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$f-&gt;id_adquirente,     // NumAdq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$this-&gt;claveTecnica,   // ClTec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hash('sha384', $cadena);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108960" cy="3337560"/>
          </a:xfrm>
          <a:prstGeom prst="rect">
            <a:avLst/>
          </a:prstGeom>
          <a:solidFill>
            <a:srgbClr val="1A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7607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hace este codigo: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659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concatenan los campos exactos del Anexo 20 de la DIAN, en el orden especificado por la normativa.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hash('sha384') genera 96 caracteres hexadecimales que identifican de forma unica la factura.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valor se imprime en el PDF y se codifica en el codigo QR de consulta del portal DIAN.</a:t>
            </a:r>
            <a:endParaRPr lang="en-US" sz="11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5FB0111-1FF3-C5A7-0CF9-CB416C6CC44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DianService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CUFE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1C6F3B9-8C4B-FD9E-6878-6367BC5E4D36}"/>
              </a:ext>
            </a:extLst>
          </p:cNvPr>
          <p:cNvSpPr/>
          <p:nvPr/>
        </p:nvSpPr>
        <p:spPr>
          <a:xfrm>
            <a:off x="365760" y="8321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CUFE es el identificador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unico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96 caracteres que la DIAN exige en cada factura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5760" y="1417320"/>
            <a:ext cx="5166360" cy="3337560"/>
          </a:xfrm>
          <a:prstGeom prst="rect">
            <a:avLst/>
          </a:prstGeom>
          <a:solidFill>
            <a:srgbClr val="161616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app/Http/Controllers/VentaController.php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buscarProducto(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 $request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105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JsonResponse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$q = $request-&gt;input('q', '');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response()-&gt;json(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Producto::with('tarifaIva')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-&gt;where('activo', 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-&gt;where('stock_actual', '&gt;',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-&gt;where(function($query) use ($q)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$query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-&gt;where('nombre', 'like', "%{$q}%")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-&gt;orWhere('codigo_barras',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'like', "%{$q}%");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-&gt;limit(10)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-&gt;get()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108960" cy="3337560"/>
          </a:xfrm>
          <a:prstGeom prst="rect">
            <a:avLst/>
          </a:prstGeom>
          <a:solidFill>
            <a:srgbClr val="1A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7607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hace este codigo: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659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muestra productos activos y con stock mayor a cero, evitando que el cajero vea items que no puede vender.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busqueda LIKE aplica sobre nombre y codigo de barras, lo que permite entrada manual o por escaner.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with('tarifaIva') carga el IVA del producto en la misma consulta, sin peticiones adicionales a la base de datos.</a:t>
            </a:r>
            <a:endParaRPr lang="en-US" sz="11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FB678CA-EAB4-8CD8-4AD7-DAE6C7C11CAB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VentaController.php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Busquedas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productos en POS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57C6279-61FD-7C73-C3EE-69F5AB323EE9}"/>
              </a:ext>
            </a:extLst>
          </p:cNvPr>
          <p:cNvSpPr/>
          <p:nvPr/>
        </p:nvSpPr>
        <p:spPr>
          <a:xfrm>
            <a:off x="365760" y="8321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buscador del POS consulta en tiempo real por nombre,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barras.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5760" y="1417320"/>
            <a:ext cx="5166360" cy="3337560"/>
          </a:xfrm>
          <a:prstGeom prst="rect">
            <a:avLst/>
          </a:prstGeom>
          <a:solidFill>
            <a:srgbClr val="161616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TurnoCajaController.php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abrir(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 $request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RedirectResponse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$validated = $request-&gt;validate([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'caja_id'       =&gt;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['required’, '</a:t>
            </a:r>
            <a:r>
              <a:rPr lang="en-US" sz="105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exists:cajas,id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'saldo_inicial' =&gt;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['required’, 'numeric', 'min:0'],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Bloquea si ya hay turno abierto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$existe = TurnoCaja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::where('caja_id', $validated['caja_id'])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-&gt;abierto()-&gt;first();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($existe) return back()-&gt;withErrors([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'caja_id' =&gt; 'Turno ya abierto.',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TurnoCaja::create([...]);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redirect()-&gt;route('caja.index');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108960" cy="3337560"/>
          </a:xfrm>
          <a:prstGeom prst="rect">
            <a:avLst/>
          </a:prstGeom>
          <a:solidFill>
            <a:srgbClr val="1A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7607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hace este codigo: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659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rechaza la peticion antes de tocar la base de datos si los datos no son validos.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scope abierto() filtra los turnos con estado='abierto', evitando que una caja tenga dos sesiones activas.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withErrors() devuelve el mensaje de error al formulario sin necesidad de levantar una excepcion.</a:t>
            </a:r>
            <a:endParaRPr lang="en-US" sz="11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0174546-F0B7-A249-3769-671971D1717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TurnoCajaController.php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Apertura de caja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5A44137-7868-1C64-16FE-9AED47DC2115}"/>
              </a:ext>
            </a:extLst>
          </p:cNvPr>
          <p:cNvSpPr/>
          <p:nvPr/>
        </p:nvSpPr>
        <p:spPr>
          <a:xfrm>
            <a:off x="365760" y="8321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Antes de operar en el POS, el cajero debe abrir un turno. El sistema bloquea turnos duplicados.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5760" y="1417320"/>
            <a:ext cx="5166360" cy="3337560"/>
          </a:xfrm>
          <a:prstGeom prst="rect">
            <a:avLst/>
          </a:prstGeom>
          <a:solidFill>
            <a:srgbClr val="161616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resources/js/lib/pos-store.svelte.ts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items = $state&lt;CartItem[]&gt;([]);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cliente = $state&lt;Cliente | null&gt;(null);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descuentoGlobal = $state(0);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 recalculan sin hacer nada extra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subtotal = $derived(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items.reduce((sum, item)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 item.cantidad * item.precio_unitario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totalIva = $derived(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items.reduce((sum, item)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 calcularIva(item)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total = $derived(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subtotal + totalIva - descuentoGlobal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108960" cy="3337560"/>
          </a:xfrm>
          <a:prstGeom prst="rect">
            <a:avLst/>
          </a:prstGeom>
          <a:solidFill>
            <a:srgbClr val="1A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7607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hace este codigo: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659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$state() declara variables reactivas: cualquier cambio en items, cliente o descuentoGlobal notifica automaticamente a los componentes que las usan.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$derived() reemplaza los computed de Vue o useMemo de React. No necesita dependencias manuales: Svelte las detecta solas en tiempo de compilacion.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se actualiza en pantalla sin hacer una sola peticion al servidor, lo que hace el POS rapido incluso en horas de alta demanda.</a:t>
            </a:r>
            <a:endParaRPr lang="en-US" sz="11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511AFF97-42D5-7EA4-638F-F95831351169}"/>
              </a:ext>
            </a:extLst>
          </p:cNvPr>
          <p:cNvSpPr/>
          <p:nvPr/>
        </p:nvSpPr>
        <p:spPr>
          <a:xfrm>
            <a:off x="0" y="-50292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pos-store.svelte.ts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Estado reactivo del carrito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DCEAC791-BE19-B78E-B995-1AFA253FCD33}"/>
              </a:ext>
            </a:extLst>
          </p:cNvPr>
          <p:cNvSpPr/>
          <p:nvPr/>
        </p:nvSpPr>
        <p:spPr>
          <a:xfrm>
            <a:off x="365760" y="8321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store del POS usa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Svelte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5 Runes. Cuando cambia cualquier $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los $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 recalculan solos.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5989320" cy="406908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6C3E6B72-9D6C-135F-D7DF-8253A7DCB73F}"/>
              </a:ext>
            </a:extLst>
          </p:cNvPr>
          <p:cNvSpPr/>
          <p:nvPr/>
        </p:nvSpPr>
        <p:spPr>
          <a:xfrm>
            <a:off x="0" y="-32004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Vision general del negocio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7C3CC90-BCCD-4146-F3DE-3B04D181878D}"/>
              </a:ext>
            </a:extLst>
          </p:cNvPr>
          <p:cNvSpPr/>
          <p:nvPr/>
        </p:nvSpPr>
        <p:spPr>
          <a:xfrm>
            <a:off x="6213076" y="626364"/>
            <a:ext cx="2791646" cy="4517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 4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tarjetas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superiores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(Ventas Hoy, Ventas Mes,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Cartera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Gastos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se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actualizan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recargar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pagina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widget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Caja indica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real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hay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quien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abrio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a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hora,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evitando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opere sin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registrado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grafico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Ventas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Ultimos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7 Dias y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Top 5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calculan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 Eloquent, sin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intermedias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cache.</a:t>
            </a:r>
            <a:endParaRPr lang="en-US" sz="130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F955F4E8-DE27-7929-0D1E-0EB10321233B}"/>
              </a:ext>
            </a:extLst>
          </p:cNvPr>
          <p:cNvSpPr/>
          <p:nvPr/>
        </p:nvSpPr>
        <p:spPr>
          <a:xfrm>
            <a:off x="9004721" y="-32004"/>
            <a:ext cx="139279" cy="51755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37336"/>
            <a:ext cx="4297680" cy="3017520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737336"/>
            <a:ext cx="4297680" cy="3017520"/>
          </a:xfrm>
          <a:prstGeom prst="rect">
            <a:avLst/>
          </a:prstGeom>
        </p:spPr>
      </p:pic>
      <p:sp>
        <p:nvSpPr>
          <p:cNvPr id="14" name="Shape 4">
            <a:extLst>
              <a:ext uri="{FF2B5EF4-FFF2-40B4-BE49-F238E27FC236}">
                <a16:creationId xmlns:a16="http://schemas.microsoft.com/office/drawing/2014/main" id="{EA741C97-9B62-C4CB-2DB7-5FECE1652FC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– Catalogo de productos y filtros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68ECF9-3174-6E4F-A429-906472F8CC38}"/>
              </a:ext>
            </a:extLst>
          </p:cNvPr>
          <p:cNvGrpSpPr/>
          <p:nvPr/>
        </p:nvGrpSpPr>
        <p:grpSpPr>
          <a:xfrm>
            <a:off x="0" y="3904488"/>
            <a:ext cx="4572000" cy="1239012"/>
            <a:chOff x="0" y="3931920"/>
            <a:chExt cx="4526280" cy="1211580"/>
          </a:xfrm>
        </p:grpSpPr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3A20CAD3-DF8F-B57D-921B-B64F7B10203C}"/>
                </a:ext>
              </a:extLst>
            </p:cNvPr>
            <p:cNvSpPr/>
            <p:nvPr/>
          </p:nvSpPr>
          <p:spPr>
            <a:xfrm>
              <a:off x="0" y="3931920"/>
              <a:ext cx="4526280" cy="301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Vista completa (37 </a:t>
              </a: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productos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4D28170-0AB8-3D8F-7A10-FB7A1FAB84AC}"/>
                </a:ext>
              </a:extLst>
            </p:cNvPr>
            <p:cNvSpPr/>
            <p:nvPr/>
          </p:nvSpPr>
          <p:spPr>
            <a:xfrm>
              <a:off x="0" y="4224559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Muestra </a:t>
              </a:r>
              <a:r>
                <a:rPr lang="es-ES" sz="1500" dirty="0" err="1">
                  <a:solidFill>
                    <a:schemeClr val="tx1"/>
                  </a:solidFill>
                </a:rPr>
                <a:t>codigo</a:t>
              </a:r>
              <a:r>
                <a:rPr lang="es-ES" sz="1500" dirty="0">
                  <a:solidFill>
                    <a:schemeClr val="tx1"/>
                  </a:solidFill>
                </a:rPr>
                <a:t>, nombre, </a:t>
              </a:r>
              <a:r>
                <a:rPr lang="es-ES" sz="1500" dirty="0" err="1">
                  <a:solidFill>
                    <a:schemeClr val="tx1"/>
                  </a:solidFill>
                </a:rPr>
                <a:t>categoria</a:t>
              </a:r>
              <a:r>
                <a:rPr lang="es-ES" sz="1500" dirty="0">
                  <a:solidFill>
                    <a:schemeClr val="tx1"/>
                  </a:solidFill>
                </a:rPr>
                <a:t>, precio venta, stock actual / </a:t>
              </a:r>
              <a:r>
                <a:rPr lang="es-ES" sz="1500" dirty="0" err="1">
                  <a:solidFill>
                    <a:schemeClr val="tx1"/>
                  </a:solidFill>
                </a:rPr>
                <a:t>minimo</a:t>
              </a:r>
              <a:r>
                <a:rPr lang="es-ES" sz="1500" dirty="0">
                  <a:solidFill>
                    <a:schemeClr val="tx1"/>
                  </a:solidFill>
                </a:rPr>
                <a:t>, tarifa IVA y estado. El </a:t>
              </a:r>
              <a:r>
                <a:rPr lang="es-ES" sz="1500" dirty="0" err="1">
                  <a:solidFill>
                    <a:schemeClr val="tx1"/>
                  </a:solidFill>
                </a:rPr>
                <a:t>badge</a:t>
              </a:r>
              <a:r>
                <a:rPr lang="es-ES" sz="1500" dirty="0">
                  <a:solidFill>
                    <a:schemeClr val="tx1"/>
                  </a:solidFill>
                </a:rPr>
                <a:t> de stock cambia a rojo cuando cae bajo el </a:t>
              </a:r>
              <a:r>
                <a:rPr lang="es-ES" sz="1500" dirty="0" err="1">
                  <a:solidFill>
                    <a:schemeClr val="tx1"/>
                  </a:solidFill>
                </a:rPr>
                <a:t>minimo</a:t>
              </a:r>
              <a:r>
                <a:rPr lang="es-ES" sz="1500" dirty="0">
                  <a:solidFill>
                    <a:schemeClr val="tx1"/>
                  </a:solidFill>
                </a:rPr>
                <a:t> configurado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67E37B-4745-A1A3-3189-3E3D87768075}"/>
              </a:ext>
            </a:extLst>
          </p:cNvPr>
          <p:cNvGrpSpPr/>
          <p:nvPr/>
        </p:nvGrpSpPr>
        <p:grpSpPr>
          <a:xfrm>
            <a:off x="4572000" y="3904488"/>
            <a:ext cx="4572000" cy="1239012"/>
            <a:chOff x="546016" y="2037517"/>
            <a:chExt cx="4526280" cy="1211580"/>
          </a:xfrm>
        </p:grpSpPr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8A749AF7-77C8-7DC6-E477-101A590123BA}"/>
                </a:ext>
              </a:extLst>
            </p:cNvPr>
            <p:cNvSpPr/>
            <p:nvPr/>
          </p:nvSpPr>
          <p:spPr>
            <a:xfrm>
              <a:off x="546016" y="2037517"/>
              <a:ext cx="4526280" cy="301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Filtro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categoria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</a:t>
              </a:r>
              <a:endPara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4883FB0-75B7-C84C-1D8D-7BB773F09769}"/>
                </a:ext>
              </a:extLst>
            </p:cNvPr>
            <p:cNvSpPr/>
            <p:nvPr/>
          </p:nvSpPr>
          <p:spPr>
            <a:xfrm>
              <a:off x="546016" y="2330156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El </a:t>
              </a:r>
              <a:r>
                <a:rPr lang="es-ES" sz="1500" dirty="0" err="1">
                  <a:solidFill>
                    <a:schemeClr val="tx1"/>
                  </a:solidFill>
                </a:rPr>
                <a:t>dropdown</a:t>
              </a:r>
              <a:r>
                <a:rPr lang="es-ES" sz="1500" dirty="0">
                  <a:solidFill>
                    <a:schemeClr val="tx1"/>
                  </a:solidFill>
                </a:rPr>
                <a:t> de </a:t>
              </a:r>
              <a:r>
                <a:rPr lang="es-ES" sz="1500" dirty="0" err="1">
                  <a:solidFill>
                    <a:schemeClr val="tx1"/>
                  </a:solidFill>
                </a:rPr>
                <a:t>categorias</a:t>
              </a:r>
              <a:r>
                <a:rPr lang="es-ES" sz="1500" dirty="0">
                  <a:solidFill>
                    <a:schemeClr val="tx1"/>
                  </a:solidFill>
                </a:rPr>
                <a:t> filtra en tiempo real sin recargar. El </a:t>
              </a:r>
              <a:r>
                <a:rPr lang="es-ES" sz="1500" dirty="0" err="1">
                  <a:solidFill>
                    <a:schemeClr val="tx1"/>
                  </a:solidFill>
                </a:rPr>
                <a:t>boton</a:t>
              </a:r>
              <a:r>
                <a:rPr lang="es-ES" sz="1500" dirty="0">
                  <a:solidFill>
                    <a:schemeClr val="tx1"/>
                  </a:solidFill>
                </a:rPr>
                <a:t> Bajo stock resalta productos </a:t>
              </a:r>
              <a:r>
                <a:rPr lang="es-ES" sz="1500" dirty="0" err="1">
                  <a:solidFill>
                    <a:schemeClr val="tx1"/>
                  </a:solidFill>
                </a:rPr>
                <a:t>criticos</a:t>
              </a:r>
              <a:r>
                <a:rPr lang="es-ES" sz="1500" dirty="0">
                  <a:solidFill>
                    <a:schemeClr val="tx1"/>
                  </a:solidFill>
                </a:rPr>
                <a:t> de forma inmediata.</a:t>
              </a:r>
            </a:p>
          </p:txBody>
        </p:sp>
      </p:grpSp>
      <p:sp>
        <p:nvSpPr>
          <p:cNvPr id="27" name="Shape 2">
            <a:extLst>
              <a:ext uri="{FF2B5EF4-FFF2-40B4-BE49-F238E27FC236}">
                <a16:creationId xmlns:a16="http://schemas.microsoft.com/office/drawing/2014/main" id="{326DC70A-C9FC-0FD6-ECDD-6827128FA624}"/>
              </a:ext>
            </a:extLst>
          </p:cNvPr>
          <p:cNvSpPr/>
          <p:nvPr/>
        </p:nvSpPr>
        <p:spPr>
          <a:xfrm>
            <a:off x="9006840" y="0"/>
            <a:ext cx="137160" cy="39044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878" y="868680"/>
            <a:ext cx="5989320" cy="406908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9458E3C6-859B-C8CD-F28B-78D0B8353E40}"/>
              </a:ext>
            </a:extLst>
          </p:cNvPr>
          <p:cNvSpPr/>
          <p:nvPr/>
        </p:nvSpPr>
        <p:spPr>
          <a:xfrm>
            <a:off x="6213075" y="658368"/>
            <a:ext cx="2793765" cy="4485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El buscador acepta texto libre o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barras escaneado. Muestra precio y stock disponible del producto en el mismo resultado, antes de agregarlo.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derecho refleja el cliente seleccionado, subtotal, total y los medios de pago disponibles. Todos los valores se recalculan con $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Svelte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5 sin ninguna petición al servidor.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boton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COBRAR solo se activa cuando hay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en el carrito y al menos un medio de pago asignado, previniendo ventas incompletas.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9050932-3D22-30F2-B932-65188FE0A32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– </a:t>
            </a:r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carrito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19FB06F-DABB-F0C0-1379-F32F4CB470F7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878" y="866394"/>
            <a:ext cx="5989320" cy="406908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DD0D3638-CBC5-73A6-3976-FA884992F0E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– Venta con cambio calculado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F2C7EA7-C0AA-4A2B-7AFA-75EABE6DE915}"/>
              </a:ext>
            </a:extLst>
          </p:cNvPr>
          <p:cNvSpPr/>
          <p:nvPr/>
        </p:nvSpPr>
        <p:spPr>
          <a:xfrm>
            <a:off x="6213075" y="658368"/>
            <a:ext cx="2793765" cy="4485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cajero ingreso $15.000 en efectivo para una venta de $13.500. El sistema calcula y muestra el cambio ($1.500) en verde de forma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automatica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total del carrito se actualiza reactivamente: cantidad, descuento por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descuento global se aplican en cadena sin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del servidor.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venta admite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multiples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medios de pago en la misma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(efectivo +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Nequi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por ejemplo), sumando los montos hasta cubrir el total.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9AA38887-1F81-F1A7-B98B-BD9ABB770BB1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089" y="866394"/>
            <a:ext cx="5989320" cy="4069080"/>
          </a:xfrm>
          <a:prstGeom prst="rect">
            <a:avLst/>
          </a:prstGeom>
        </p:spPr>
      </p:pic>
      <p:sp>
        <p:nvSpPr>
          <p:cNvPr id="11" name="Shape 4">
            <a:extLst>
              <a:ext uri="{FF2B5EF4-FFF2-40B4-BE49-F238E27FC236}">
                <a16:creationId xmlns:a16="http://schemas.microsoft.com/office/drawing/2014/main" id="{F19929C2-45CE-A85E-404F-1C576C19C1A3}"/>
              </a:ext>
            </a:extLst>
          </p:cNvPr>
          <p:cNvSpPr/>
          <p:nvPr/>
        </p:nvSpPr>
        <p:spPr>
          <a:xfrm>
            <a:off x="6215497" y="658368"/>
            <a:ext cx="2791343" cy="4485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toast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inferior confirma 'Venta registrada exitosamente' con el numero de factura asignado (FE1). Aparece sin recargar la pagina gracias a Inertia.js.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carrito se limpia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el foco regresa al buscador, dejando la caja lista para la siguiente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en menos de dos segundos.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 ese mismo instante, el stock de los productos vendidos ya fue descontado en la base de datos dentro de la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atomica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CrearFactura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0EA3A62-D37C-C48A-3FB5-1A4B417DD3B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– </a:t>
            </a:r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venta registrada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03463F8-DE17-ED33-65D1-311EBD2DEC18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A115-BCCA-9783-6A2C-6667F125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>
            <a:extLst>
              <a:ext uri="{FF2B5EF4-FFF2-40B4-BE49-F238E27FC236}">
                <a16:creationId xmlns:a16="http://schemas.microsoft.com/office/drawing/2014/main" id="{8D904EB3-5961-62E9-B5B2-6BCD70482FB1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– Apertura de turno y confirmación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B8F53D-0859-6041-1E8F-4B9B06D52160}"/>
              </a:ext>
            </a:extLst>
          </p:cNvPr>
          <p:cNvGrpSpPr/>
          <p:nvPr/>
        </p:nvGrpSpPr>
        <p:grpSpPr>
          <a:xfrm>
            <a:off x="0" y="3904488"/>
            <a:ext cx="4572000" cy="1239012"/>
            <a:chOff x="0" y="3931920"/>
            <a:chExt cx="4526280" cy="121158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F6019440-27EB-4C96-4C15-543938D30C63}"/>
                </a:ext>
              </a:extLst>
            </p:cNvPr>
            <p:cNvSpPr/>
            <p:nvPr/>
          </p:nvSpPr>
          <p:spPr>
            <a:xfrm>
              <a:off x="0" y="3931920"/>
              <a:ext cx="4526280" cy="301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pt-BR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Modal de apertura de turno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ED1B3B-1C0D-30E0-0672-82CAED649A5C}"/>
                </a:ext>
              </a:extLst>
            </p:cNvPr>
            <p:cNvSpPr/>
            <p:nvPr/>
          </p:nvSpPr>
          <p:spPr>
            <a:xfrm>
              <a:off x="0" y="4224559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El cajero ingresa el saldo inicial en efectivo. El sistema valida que no exista turno abierto antes de procesar la solicitud.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E01BC1-3209-18C5-2285-26DE67135F3F}"/>
              </a:ext>
            </a:extLst>
          </p:cNvPr>
          <p:cNvGrpSpPr/>
          <p:nvPr/>
        </p:nvGrpSpPr>
        <p:grpSpPr>
          <a:xfrm>
            <a:off x="4572000" y="3904488"/>
            <a:ext cx="4572000" cy="1239012"/>
            <a:chOff x="546016" y="2037517"/>
            <a:chExt cx="4526280" cy="1211580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2B0D8285-B882-9FDF-9198-4A8DDE82A449}"/>
                </a:ext>
              </a:extLst>
            </p:cNvPr>
            <p:cNvSpPr/>
            <p:nvPr/>
          </p:nvSpPr>
          <p:spPr>
            <a:xfrm>
              <a:off x="546016" y="2037517"/>
              <a:ext cx="4526280" cy="301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Turno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abierto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correctamente</a:t>
              </a:r>
              <a:endParaRPr lang="en-US" sz="12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38BB63-19ED-1655-60E8-41412843A20D}"/>
                </a:ext>
              </a:extLst>
            </p:cNvPr>
            <p:cNvSpPr/>
            <p:nvPr/>
          </p:nvSpPr>
          <p:spPr>
            <a:xfrm>
              <a:off x="546016" y="2330156"/>
              <a:ext cx="4526280" cy="918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</a:rPr>
                <a:t>La caja cambia a estado 'Abierta' (borde verde) y el banner superior confirma la </a:t>
              </a:r>
              <a:r>
                <a:rPr lang="es-ES" sz="1500" dirty="0" err="1">
                  <a:solidFill>
                    <a:schemeClr val="tx1"/>
                  </a:solidFill>
                </a:rPr>
                <a:t>operacion</a:t>
              </a:r>
              <a:r>
                <a:rPr lang="es-ES" sz="1500" dirty="0">
                  <a:solidFill>
                    <a:schemeClr val="tx1"/>
                  </a:solidFill>
                </a:rPr>
                <a:t>. Los fondos muestran el saldo acumulado desde ese momento.</a:t>
              </a:r>
            </a:p>
          </p:txBody>
        </p:sp>
      </p:grpSp>
      <p:pic>
        <p:nvPicPr>
          <p:cNvPr id="2" name="Image 0">
            <a:extLst>
              <a:ext uri="{FF2B5EF4-FFF2-40B4-BE49-F238E27FC236}">
                <a16:creationId xmlns:a16="http://schemas.microsoft.com/office/drawing/2014/main" id="{F7E26E2A-DF30-7ADA-5EFD-CCD0CA46F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40649"/>
            <a:ext cx="4297680" cy="3017520"/>
          </a:xfrm>
          <a:prstGeom prst="rect">
            <a:avLst/>
          </a:prstGeom>
        </p:spPr>
      </p:pic>
      <p:pic>
        <p:nvPicPr>
          <p:cNvPr id="3" name="Image 1">
            <a:extLst>
              <a:ext uri="{FF2B5EF4-FFF2-40B4-BE49-F238E27FC236}">
                <a16:creationId xmlns:a16="http://schemas.microsoft.com/office/drawing/2014/main" id="{4AF350A8-072D-008C-4BBB-5D5AD43917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2" y="737336"/>
            <a:ext cx="4297680" cy="301752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26D94265-0E46-0C48-472B-84C0FD7CD1A3}"/>
              </a:ext>
            </a:extLst>
          </p:cNvPr>
          <p:cNvSpPr/>
          <p:nvPr/>
        </p:nvSpPr>
        <p:spPr>
          <a:xfrm>
            <a:off x="9006840" y="0"/>
            <a:ext cx="137160" cy="39044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4644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878" y="866394"/>
            <a:ext cx="5989320" cy="406908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6FDC513C-EEFC-4FEA-3A09-BAFD434A1CE1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Detalle de venta con CUFE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2E6F1F2-B786-5483-5EAD-F1860BCE4314}"/>
              </a:ext>
            </a:extLst>
          </p:cNvPr>
          <p:cNvSpPr/>
          <p:nvPr/>
        </p:nvSpPr>
        <p:spPr>
          <a:xfrm>
            <a:off x="6213075" y="658368"/>
            <a:ext cx="2793765" cy="4485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Cada factura muestra el CUFE completo de 96 caracteres generado con SHA-384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segun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el Anexo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Tecnico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1.8 de la DIAN.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Los botones Descargar PDF y Descargar XML permiten obtener los documentos legales de la factura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directamente desde la interfaz.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DIAN: Pendiente indica que el documento esta generado y listo para ser transmitido al Operador Habilitado en la siguiente versión del sistema.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1AFA671-7C1F-E951-53D0-8559E4D10FB7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874" y="666694"/>
            <a:ext cx="5989320" cy="4476806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6F765628-580B-6C86-3CEA-8759370A462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</a:t>
            </a:r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PDF de factura electrónica imprimible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6499F31-5ACC-FF20-0D77-326957D06630}"/>
              </a:ext>
            </a:extLst>
          </p:cNvPr>
          <p:cNvSpPr/>
          <p:nvPr/>
        </p:nvSpPr>
        <p:spPr>
          <a:xfrm>
            <a:off x="6213075" y="666694"/>
            <a:ext cx="2793765" cy="44851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PDF incluye todos los campos exigidos por la normativa: NIT del emisor,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resolucion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DIAN, datos del adquirente, detalle de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 IVA y resumen tributario.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CUFE aparece en el pie de pagina junto al enlace de consulta del portal VPFE de la DIAN, permitiendo que el cliente verifique la factura en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linea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es compatible con impresoras de hoja completa (A4). La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termica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80mm para impresora de punto de venta </a:t>
            </a:r>
            <a:r>
              <a:rPr lang="es-E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tambien</a:t>
            </a:r>
            <a:r>
              <a:rPr lang="es-E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esta implementada.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688E500E-593A-BE7A-BE23-92F8586CB43F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608B-86BC-7246-087A-C1FF0D39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62107431-9056-84A5-8A89-9E03CE084F50}"/>
              </a:ext>
            </a:extLst>
          </p:cNvPr>
          <p:cNvSpPr/>
          <p:nvPr/>
        </p:nvSpPr>
        <p:spPr>
          <a:xfrm>
            <a:off x="0" y="0"/>
            <a:ext cx="4572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C7A9896-4C5F-6468-C8AE-41B6BC654359}"/>
              </a:ext>
            </a:extLst>
          </p:cNvPr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D27C8DB0-CA87-EF2D-6381-B524217AD3CC}"/>
              </a:ext>
            </a:extLst>
          </p:cNvPr>
          <p:cNvSpPr/>
          <p:nvPr/>
        </p:nvSpPr>
        <p:spPr>
          <a:xfrm>
            <a:off x="381505" y="920456"/>
            <a:ext cx="4190496" cy="4223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conectado a Operador </a:t>
            </a:r>
            <a:r>
              <a:rPr lang="en-U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Habilitado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DIAN</a:t>
            </a:r>
            <a:b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CUFE se genera pero aun no se </a:t>
            </a:r>
            <a:r>
              <a:rPr lang="en-US" sz="16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</a:t>
            </a:r>
            <a:r>
              <a:rPr lang="en-U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</a:t>
            </a:r>
            <a:b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no soporta multiples bodegas o sucursales independientes</a:t>
            </a:r>
            <a:endParaRPr lang="en-US" sz="1600" dirty="0"/>
          </a:p>
          <a:p>
            <a:pPr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 </a:t>
            </a:r>
            <a:r>
              <a:rPr lang="en-U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limitadas</a:t>
            </a:r>
            <a:b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simulo el volumen de datos de anos de operacion</a:t>
            </a:r>
            <a:endParaRPr lang="en-US" sz="1600" dirty="0"/>
          </a:p>
          <a:p>
            <a:pPr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sincronos</a:t>
            </a:r>
            <a:b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alto volumen, la generacion puede bloquear el navegador del usuario</a:t>
            </a:r>
            <a:endParaRPr lang="en-US" sz="16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A0A45A-FCD9-611E-88B9-F3F3EF84FFC9}"/>
              </a:ext>
            </a:extLst>
          </p:cNvPr>
          <p:cNvSpPr/>
          <p:nvPr/>
        </p:nvSpPr>
        <p:spPr>
          <a:xfrm>
            <a:off x="4572000" y="0"/>
            <a:ext cx="4572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E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FFF024E-EDAC-0C4C-4F63-D6B9EE13C59C}"/>
              </a:ext>
            </a:extLst>
          </p:cNvPr>
          <p:cNvSpPr/>
          <p:nvPr/>
        </p:nvSpPr>
        <p:spPr>
          <a:xfrm>
            <a:off x="4816344" y="882427"/>
            <a:ext cx="4190496" cy="21531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integra POS, inventario, caja y </a:t>
            </a:r>
            <a:r>
              <a:rPr lang="es-E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</a:t>
            </a:r>
            <a:r>
              <a:rPr lang="es-E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</a:t>
            </a:r>
            <a:r>
              <a:rPr lang="es-E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DIAN en una sola </a:t>
            </a:r>
            <a:r>
              <a:rPr lang="es-E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</a:t>
            </a:r>
            <a:r>
              <a:rPr lang="es-E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funcional probada en entorno local.</a:t>
            </a:r>
          </a:p>
          <a:p>
            <a:pPr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Stack Laravel + </a:t>
            </a:r>
            <a:r>
              <a:rPr lang="es-E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</a:t>
            </a:r>
            <a:r>
              <a:rPr lang="es-E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+ Inertia.js resulto una </a:t>
            </a:r>
            <a:r>
              <a:rPr lang="es-ES" sz="16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</a:t>
            </a:r>
            <a:r>
              <a:rPr lang="es-E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solida para este dominio: </a:t>
            </a:r>
            <a:r>
              <a:rPr lang="es-E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es </a:t>
            </a:r>
            <a:r>
              <a:rPr lang="es-ES" sz="16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</a:t>
            </a:r>
            <a:r>
              <a:rPr lang="es-E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</a:t>
            </a:r>
            <a:r>
              <a:rPr lang="es-ES" sz="16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E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mantenible y no depende de una API REST separada.</a:t>
            </a:r>
            <a:endParaRPr lang="es-ES" sz="1600" b="1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E39866-B39E-723D-B44D-98A727BF8AE4}"/>
              </a:ext>
            </a:extLst>
          </p:cNvPr>
          <p:cNvCxnSpPr>
            <a:cxnSpLocks/>
          </p:cNvCxnSpPr>
          <p:nvPr/>
        </p:nvCxnSpPr>
        <p:spPr>
          <a:xfrm>
            <a:off x="4572000" y="-121113"/>
            <a:ext cx="0" cy="54076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6BACDAD-84D5-FC05-9800-F696941CC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116" y="3204343"/>
            <a:ext cx="2073769" cy="17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11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1332230"/>
            <a:ext cx="3200400" cy="1188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200400" y="1332230"/>
            <a:ext cx="274320" cy="1188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999220" y="1465326"/>
            <a:ext cx="137160" cy="36987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0" y="1465326"/>
            <a:ext cx="9006840" cy="36987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Text 7"/>
          <p:cNvSpPr/>
          <p:nvPr/>
        </p:nvSpPr>
        <p:spPr>
          <a:xfrm>
            <a:off x="457200" y="1810789"/>
            <a:ext cx="8229600" cy="2441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 POR SU</a:t>
            </a:r>
          </a:p>
          <a:p>
            <a:pPr algn="ctr"/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ATENCIÓN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Jimenez Gomez  ·  Miguel Angel Rodriguez  Ferreira ·  Diego José Suarez Cuervo</a:t>
            </a:r>
            <a:endParaRPr lang="en-US" sz="11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CE08793-3C5C-A934-A2D6-AFAE45D2A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895" y="242703"/>
            <a:ext cx="2330245" cy="77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">
            <a:extLst>
              <a:ext uri="{FF2B5EF4-FFF2-40B4-BE49-F238E27FC236}">
                <a16:creationId xmlns:a16="http://schemas.microsoft.com/office/drawing/2014/main" id="{49DBF28D-034A-B6FA-52B6-F421D9998AFA}"/>
              </a:ext>
            </a:extLst>
          </p:cNvPr>
          <p:cNvSpPr/>
          <p:nvPr/>
        </p:nvSpPr>
        <p:spPr>
          <a:xfrm>
            <a:off x="-1" y="0"/>
            <a:ext cx="9006841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Capítulo 7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274320" y="1780136"/>
            <a:ext cx="658368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O" dirty="0"/>
          </a:p>
        </p:txBody>
      </p:sp>
      <p:sp>
        <p:nvSpPr>
          <p:cNvPr id="9" name="Text 7"/>
          <p:cNvSpPr/>
          <p:nvPr/>
        </p:nvSpPr>
        <p:spPr>
          <a:xfrm>
            <a:off x="274320" y="1791315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788367"/>
            <a:ext cx="7708392" cy="4946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" y="2291286"/>
            <a:ext cx="7708392" cy="467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……….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2759059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……………..</a:t>
            </a:r>
            <a:endParaRPr lang="es-ES" sz="16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15568" y="3261980"/>
            <a:ext cx="7708392" cy="554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………………….</a:t>
            </a:r>
            <a:endParaRPr lang="es-ES" sz="16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15568" y="3832966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……………..</a:t>
            </a:r>
            <a:endParaRPr lang="en-US" sz="10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6A210DA1-A1F9-E571-F129-A0031608FA00}"/>
              </a:ext>
            </a:extLst>
          </p:cNvPr>
          <p:cNvSpPr/>
          <p:nvPr/>
        </p:nvSpPr>
        <p:spPr>
          <a:xfrm>
            <a:off x="0" y="0"/>
            <a:ext cx="8412480" cy="1188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65FFFED8-2A6A-D464-1233-F108C9F397E1}"/>
              </a:ext>
            </a:extLst>
          </p:cNvPr>
          <p:cNvSpPr/>
          <p:nvPr/>
        </p:nvSpPr>
        <p:spPr>
          <a:xfrm>
            <a:off x="8412480" y="0"/>
            <a:ext cx="731520" cy="1188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D1162D9A-5426-B91A-0A43-97FBA9AD15F9}"/>
              </a:ext>
            </a:extLst>
          </p:cNvPr>
          <p:cNvSpPr/>
          <p:nvPr/>
        </p:nvSpPr>
        <p:spPr>
          <a:xfrm>
            <a:off x="274320" y="2291286"/>
            <a:ext cx="658368" cy="502920"/>
          </a:xfrm>
          <a:prstGeom prst="rect">
            <a:avLst/>
          </a:prstGeom>
          <a:solidFill>
            <a:srgbClr val="FF0000"/>
          </a:solidFill>
          <a:ln w="12700">
            <a:solidFill>
              <a:srgbClr val="CC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O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A8937CFE-468B-3477-C24D-34C72E4FA867}"/>
              </a:ext>
            </a:extLst>
          </p:cNvPr>
          <p:cNvSpPr/>
          <p:nvPr/>
        </p:nvSpPr>
        <p:spPr>
          <a:xfrm>
            <a:off x="274320" y="2802436"/>
            <a:ext cx="658368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O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012B2DB-961A-487B-EC52-B20D1B4367D1}"/>
              </a:ext>
            </a:extLst>
          </p:cNvPr>
          <p:cNvSpPr/>
          <p:nvPr/>
        </p:nvSpPr>
        <p:spPr>
          <a:xfrm>
            <a:off x="274320" y="3313586"/>
            <a:ext cx="658368" cy="502920"/>
          </a:xfrm>
          <a:prstGeom prst="rect">
            <a:avLst/>
          </a:prstGeom>
          <a:solidFill>
            <a:srgbClr val="FF0000"/>
          </a:solidFill>
          <a:ln w="12700">
            <a:solidFill>
              <a:srgbClr val="CC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O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4884DEC-BF60-A48B-4C25-C58AE011A4C6}"/>
              </a:ext>
            </a:extLst>
          </p:cNvPr>
          <p:cNvSpPr/>
          <p:nvPr/>
        </p:nvSpPr>
        <p:spPr>
          <a:xfrm>
            <a:off x="274320" y="3824736"/>
            <a:ext cx="658368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O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60C2D8A-A122-7B33-0C24-49800BA6C381}"/>
              </a:ext>
            </a:extLst>
          </p:cNvPr>
          <p:cNvSpPr/>
          <p:nvPr/>
        </p:nvSpPr>
        <p:spPr>
          <a:xfrm>
            <a:off x="274320" y="4335886"/>
            <a:ext cx="658368" cy="502920"/>
          </a:xfrm>
          <a:prstGeom prst="rect">
            <a:avLst/>
          </a:prstGeom>
          <a:solidFill>
            <a:srgbClr val="FF0000"/>
          </a:solidFill>
          <a:ln w="12700">
            <a:solidFill>
              <a:srgbClr val="CC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O" dirty="0"/>
          </a:p>
        </p:txBody>
      </p:sp>
      <p:sp>
        <p:nvSpPr>
          <p:cNvPr id="17" name="Text 28">
            <a:extLst>
              <a:ext uri="{FF2B5EF4-FFF2-40B4-BE49-F238E27FC236}">
                <a16:creationId xmlns:a16="http://schemas.microsoft.com/office/drawing/2014/main" id="{FE0D8AB2-FFC8-DD3C-C644-6C62765E2EFC}"/>
              </a:ext>
            </a:extLst>
          </p:cNvPr>
          <p:cNvSpPr/>
          <p:nvPr/>
        </p:nvSpPr>
        <p:spPr>
          <a:xfrm>
            <a:off x="1115568" y="4335886"/>
            <a:ext cx="7708392" cy="50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…………………</a:t>
            </a: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0BD8819E-83AE-8CAE-63FA-C9E5CF8CEEEB}"/>
              </a:ext>
            </a:extLst>
          </p:cNvPr>
          <p:cNvSpPr/>
          <p:nvPr/>
        </p:nvSpPr>
        <p:spPr>
          <a:xfrm>
            <a:off x="0" y="822960"/>
            <a:ext cx="900684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 numCol="1" anchor="ctr"/>
          <a:lstStyle/>
          <a:p>
            <a:pPr lvl="1"/>
            <a:r>
              <a:rPr lang="es-CO" sz="2000" b="1" noProof="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Contenido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ABD3950-8442-6350-457A-6EE2BBD95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816" y="4511135"/>
            <a:ext cx="1412144" cy="46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36351BB0EADA458D9CFA4850692D22" ma:contentTypeVersion="13" ma:contentTypeDescription="Create a new document." ma:contentTypeScope="" ma:versionID="859d9d7dbfa56b3e6470d264f46176dc">
  <xsd:schema xmlns:xsd="http://www.w3.org/2001/XMLSchema" xmlns:xs="http://www.w3.org/2001/XMLSchema" xmlns:p="http://schemas.microsoft.com/office/2006/metadata/properties" xmlns:ns3="14191bd3-e5f5-47d3-ac94-ab63c5997a2d" xmlns:ns4="f7a02bbd-bc40-4383-af8a-60ef4eca1bf2" targetNamespace="http://schemas.microsoft.com/office/2006/metadata/properties" ma:root="true" ma:fieldsID="217312cf162015963246ca81c3fd24b6" ns3:_="" ns4:_="">
    <xsd:import namespace="14191bd3-e5f5-47d3-ac94-ab63c5997a2d"/>
    <xsd:import namespace="f7a02bbd-bc40-4383-af8a-60ef4eca1b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191bd3-e5f5-47d3-ac94-ab63c5997a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a02bbd-bc40-4383-af8a-60ef4eca1bf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191bd3-e5f5-47d3-ac94-ab63c5997a2d" xsi:nil="true"/>
  </documentManagement>
</p:properties>
</file>

<file path=customXml/itemProps1.xml><?xml version="1.0" encoding="utf-8"?>
<ds:datastoreItem xmlns:ds="http://schemas.openxmlformats.org/officeDocument/2006/customXml" ds:itemID="{ECA7C7C1-CE2A-4595-8976-2122E3B58E05}">
  <ds:schemaRefs>
    <ds:schemaRef ds:uri="14191bd3-e5f5-47d3-ac94-ab63c5997a2d"/>
    <ds:schemaRef ds:uri="f7a02bbd-bc40-4383-af8a-60ef4eca1b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44ABE20-E786-4AE9-991D-C74AC801AF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F4D3E-7D91-4E78-9A60-C98305877CE5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f7a02bbd-bc40-4383-af8a-60ef4eca1bf2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14191bd3-e5f5-47d3-ac94-ab63c5997a2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2225</TotalTime>
  <Words>2334</Words>
  <Application>Microsoft Office PowerPoint</Application>
  <PresentationFormat>Presentación en pantalla (16:9)</PresentationFormat>
  <Paragraphs>278</Paragraphs>
  <Slides>21</Slides>
  <Notes>21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7 – Modelado de Requerimientos</dc:title>
  <dc:subject>PptxGenJS Presentation</dc:subject>
  <dc:creator>Miguel Angel Rodriguez Ferreira</dc:creator>
  <cp:lastModifiedBy>Miguel Angel Rodriguez Ferreira</cp:lastModifiedBy>
  <cp:revision>13</cp:revision>
  <dcterms:created xsi:type="dcterms:W3CDTF">2026-03-03T23:06:04Z</dcterms:created>
  <dcterms:modified xsi:type="dcterms:W3CDTF">2026-05-27T20:24:11Z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0x0101004136351BB0EADA458D9CFA4850692D22</vt:lpwstr>
  </property>
</Properties>
</file>